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1" r:id="rId10"/>
    <p:sldId id="269" r:id="rId11"/>
    <p:sldId id="265" r:id="rId12"/>
    <p:sldId id="266" r:id="rId13"/>
    <p:sldId id="267" r:id="rId14"/>
    <p:sldId id="268" r:id="rId15"/>
    <p:sldId id="271" r:id="rId16"/>
    <p:sldId id="270" r:id="rId17"/>
    <p:sldId id="275" r:id="rId18"/>
    <p:sldId id="272" r:id="rId19"/>
    <p:sldId id="273" r:id="rId20"/>
    <p:sldId id="276" r:id="rId21"/>
    <p:sldId id="274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7572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31D30-39C1-0BB0-3566-A1BB13BCE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873CD7-3B83-BDD2-1A27-9181B0DC70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3BE01E-92E1-EB20-1B3B-2C99DD7E45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7E6336-E15D-7A8F-6156-9596E83C53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1542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7ED13-A128-DFA9-14FD-11B3B9D8C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8D7217-6550-7309-1185-A04778AD54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70E4FC-7731-48BD-6390-3C83735E9D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C3D26A-7DB2-669B-0E2D-473D3B1F03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3658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EA1E0-D78A-1A8F-FD85-1FD41F6F0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B187EB-FE1E-7B2C-FBA7-B8E862FC2E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53BBC0-E577-C9F1-3A44-0A64292F2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36470-F277-D30F-AFEA-25B7565B98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2457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2184F-5E0F-C93D-A7B3-D653C22D7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6CB750-E304-ACE6-9837-83DA0D0925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A0C58E-2199-200E-646F-2962240F65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CCB3FC-2EBF-67C1-D5B3-AE9DC63A71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2724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AF74C-66D1-6388-3C6E-62DF1DDCE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76FCCE-3904-D74F-AB50-2487C4ACF3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97446E-3F5F-F632-FDAB-4CC8D86933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B365D3-26FB-F997-5B79-6BFBCB136D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9739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8AF86-0DCC-29E2-F43C-A423C9B80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3F3752-36A7-BF0A-C30D-7D4825245D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67DF99-476D-D359-AEDC-B71AAA8F0C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3EF58-C1ED-00A2-42AE-761BAFCBC2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4272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C3ED8-9BCB-FABF-72F2-F82841D3B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D54F96-A1BA-8212-BA3D-3E8A2B5454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AD6B7D-EC49-D82D-113A-7D0BD0AA3F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12840C-4927-15A6-49CF-3E7FFE1C39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0908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737D3-9398-13E5-9A6C-2FF1F053C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97C0FB-72BD-E684-9700-E20F897B56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9258CE-BA74-8246-0274-C13ED9F5E1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13E19A-AB68-9008-0667-F147EA6BE3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4562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F7AEC-A0E7-AB33-49BD-B270F48AD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1C8C06-D831-8BA4-D83B-9830E75444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F823D4-D58A-5804-18B6-37DA00EA24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C42F9-A04F-2A1E-53BF-1B158BF730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6564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E35D1-4265-B786-6999-A4FEBF0A3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4B580F-DB46-5E6D-B91C-8AE71EC047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A38AA7-DF4A-69F1-D4ED-F43A314FE3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0DDC70-5A10-E448-8B2C-708C54B058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0669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E0F3E-D037-57FE-2FFD-2922B66BF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8DDEA8-5796-D54E-A0AC-7358002828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E8D0B3-4C2C-FD8E-BD3B-E455131495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2D266-9C50-7FD9-22C6-33CB37F76D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0154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94349-3146-C09E-DCF0-8D97375A9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9C8845-8C8A-0C36-CBC4-DFD2BBA4AC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1D5F0D-7F1A-E21C-8DAA-4350B5C29D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17CFB-5274-4E4F-E680-D2EA6F215F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554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64592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Request System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371600" y="260604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Flow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38328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 Yang Textile  ·  Approval Process Overview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4206240"/>
            <a:ext cx="2103120" cy="502920"/>
          </a:xfrm>
          <a:prstGeom prst="roundRect">
            <a:avLst>
              <a:gd name="adj" fmla="val 50909"/>
            </a:avLst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42062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NYG Flow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45352" y="4206240"/>
            <a:ext cx="2103120" cy="502920"/>
          </a:xfrm>
          <a:prstGeom prst="roundRect">
            <a:avLst>
              <a:gd name="adj" fmla="val 50909"/>
            </a:avLst>
          </a:prstGeom>
          <a:solidFill>
            <a:srgbClr val="047857"/>
          </a:solidFill>
          <a:ln/>
        </p:spPr>
      </p:sp>
      <p:sp>
        <p:nvSpPr>
          <p:cNvPr id="10" name="Text 8"/>
          <p:cNvSpPr/>
          <p:nvPr/>
        </p:nvSpPr>
        <p:spPr>
          <a:xfrm>
            <a:off x="6245352" y="42062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 Flow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NYG Approval Flow —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164592" cy="123444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051560"/>
            <a:ext cx="384048" cy="38404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051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0332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 USER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36245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Request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1783080"/>
            <a:ext cx="2157984" cy="274320"/>
          </a:xfrm>
          <a:prstGeom prst="roundRect">
            <a:avLst>
              <a:gd name="adj" fmla="val 26667"/>
            </a:avLst>
          </a:prstGeom>
          <a:solidFill>
            <a:srgbClr val="DBEAFE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1783080"/>
            <a:ext cx="2157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PENDING_VP_MER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319272" y="96012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254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9272" y="960120"/>
            <a:ext cx="164592" cy="123444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/>
        </p:spPr>
      </p:sp>
      <p:sp>
        <p:nvSpPr>
          <p:cNvPr id="14" name="Shape 12"/>
          <p:cNvSpPr/>
          <p:nvPr/>
        </p:nvSpPr>
        <p:spPr>
          <a:xfrm>
            <a:off x="3520440" y="1051560"/>
            <a:ext cx="384048" cy="384048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15" name="Text 13"/>
          <p:cNvSpPr/>
          <p:nvPr/>
        </p:nvSpPr>
        <p:spPr>
          <a:xfrm>
            <a:off x="3520440" y="1051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59352" y="10332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MER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59352" y="136245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by Style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520440" y="1783080"/>
            <a:ext cx="2157984" cy="274320"/>
          </a:xfrm>
          <a:prstGeom prst="roundRect">
            <a:avLst>
              <a:gd name="adj" fmla="val 26667"/>
            </a:avLst>
          </a:prstGeom>
          <a:solidFill>
            <a:srgbClr val="E0E7FF"/>
          </a:solidFill>
          <a:ln/>
        </p:spPr>
      </p:sp>
      <p:sp>
        <p:nvSpPr>
          <p:cNvPr id="19" name="Text 17"/>
          <p:cNvSpPr/>
          <p:nvPr/>
        </p:nvSpPr>
        <p:spPr>
          <a:xfrm>
            <a:off x="3520440" y="1783080"/>
            <a:ext cx="2157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PENDING_SCM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272784" y="96012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72784" y="960120"/>
            <a:ext cx="164592" cy="123444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22" name="Shape 20"/>
          <p:cNvSpPr/>
          <p:nvPr/>
        </p:nvSpPr>
        <p:spPr>
          <a:xfrm>
            <a:off x="6473952" y="1051560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6473952" y="1051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12864" y="10332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SCM USER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12864" y="136245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Claim Dept / SO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73952" y="1783080"/>
            <a:ext cx="2157984" cy="274320"/>
          </a:xfrm>
          <a:prstGeom prst="roundRect">
            <a:avLst>
              <a:gd name="adj" fmla="val 26667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73952" y="1783080"/>
            <a:ext cx="2157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PENDING_SCM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9226296" y="96012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226296" y="960120"/>
            <a:ext cx="164592" cy="12344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30" name="Shape 28"/>
          <p:cNvSpPr/>
          <p:nvPr/>
        </p:nvSpPr>
        <p:spPr>
          <a:xfrm>
            <a:off x="9427464" y="1051560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9427464" y="1051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866376" y="10332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SCM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866376" y="136245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by Style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427464" y="1783080"/>
            <a:ext cx="2157984" cy="274320"/>
          </a:xfrm>
          <a:prstGeom prst="roundRect">
            <a:avLst>
              <a:gd name="adj" fmla="val 26667"/>
            </a:avLst>
          </a:prstGeom>
          <a:solidFill>
            <a:srgbClr val="EDE9FE"/>
          </a:solidFill>
          <a:ln/>
        </p:spPr>
      </p:sp>
      <p:sp>
        <p:nvSpPr>
          <p:cNvPr id="35" name="Text 33"/>
          <p:cNvSpPr/>
          <p:nvPr/>
        </p:nvSpPr>
        <p:spPr>
          <a:xfrm>
            <a:off x="9427464" y="1783080"/>
            <a:ext cx="2157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PENDING_PRESIDENT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65760" y="256032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25400">
            <a:solidFill>
              <a:srgbClr val="7C2D1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2560320"/>
            <a:ext cx="164592" cy="1234440"/>
          </a:xfrm>
          <a:prstGeom prst="roundRect">
            <a:avLst>
              <a:gd name="adj" fmla="val 50000"/>
            </a:avLst>
          </a:prstGeom>
          <a:solidFill>
            <a:srgbClr val="7C2D12"/>
          </a:solidFill>
          <a:ln/>
        </p:spPr>
      </p:sp>
      <p:sp>
        <p:nvSpPr>
          <p:cNvPr id="38" name="Shape 36"/>
          <p:cNvSpPr/>
          <p:nvPr/>
        </p:nvSpPr>
        <p:spPr>
          <a:xfrm>
            <a:off x="566928" y="2651760"/>
            <a:ext cx="384048" cy="384048"/>
          </a:xfrm>
          <a:prstGeom prst="ellipse">
            <a:avLst/>
          </a:prstGeom>
          <a:solidFill>
            <a:srgbClr val="7C2D12"/>
          </a:solidFill>
          <a:ln/>
        </p:spPr>
      </p:sp>
      <p:sp>
        <p:nvSpPr>
          <p:cNvPr id="39" name="Text 37"/>
          <p:cNvSpPr/>
          <p:nvPr/>
        </p:nvSpPr>
        <p:spPr>
          <a:xfrm>
            <a:off x="566928" y="2651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05840" y="26334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05840" y="296265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by Style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66928" y="3383280"/>
            <a:ext cx="2157984" cy="274320"/>
          </a:xfrm>
          <a:prstGeom prst="roundRect">
            <a:avLst>
              <a:gd name="adj" fmla="val 26667"/>
            </a:avLst>
          </a:prstGeom>
          <a:solidFill>
            <a:srgbClr val="FEE2E2"/>
          </a:solidFill>
          <a:ln/>
        </p:spPr>
      </p:sp>
      <p:sp>
        <p:nvSpPr>
          <p:cNvPr id="43" name="Text 41"/>
          <p:cNvSpPr/>
          <p:nvPr/>
        </p:nvSpPr>
        <p:spPr>
          <a:xfrm>
            <a:off x="566928" y="3383280"/>
            <a:ext cx="2157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PENDING_LOGISTICS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319272" y="256032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19272" y="2560320"/>
            <a:ext cx="164592" cy="123444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46" name="Shape 44"/>
          <p:cNvSpPr/>
          <p:nvPr/>
        </p:nvSpPr>
        <p:spPr>
          <a:xfrm>
            <a:off x="3520440" y="2651760"/>
            <a:ext cx="384048" cy="38404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7" name="Text 45"/>
          <p:cNvSpPr/>
          <p:nvPr/>
        </p:nvSpPr>
        <p:spPr>
          <a:xfrm>
            <a:off x="3520440" y="2651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3959352" y="26334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959352" y="296265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Invoice / Booking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520440" y="3383280"/>
            <a:ext cx="2157984" cy="274320"/>
          </a:xfrm>
          <a:prstGeom prst="roundRect">
            <a:avLst>
              <a:gd name="adj" fmla="val 26667"/>
            </a:avLst>
          </a:prstGeom>
          <a:solidFill>
            <a:srgbClr val="DCFCE7"/>
          </a:solidFill>
          <a:ln/>
        </p:spPr>
      </p:sp>
      <p:sp>
        <p:nvSpPr>
          <p:cNvPr id="51" name="Text 49"/>
          <p:cNvSpPr/>
          <p:nvPr/>
        </p:nvSpPr>
        <p:spPr>
          <a:xfrm>
            <a:off x="3520440" y="3383280"/>
            <a:ext cx="2157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PENDING_CLAIM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272784" y="256032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272784" y="2560320"/>
            <a:ext cx="164592" cy="123444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54" name="Shape 52"/>
          <p:cNvSpPr/>
          <p:nvPr/>
        </p:nvSpPr>
        <p:spPr>
          <a:xfrm>
            <a:off x="6473952" y="2651760"/>
            <a:ext cx="384048" cy="38404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55" name="Text 53"/>
          <p:cNvSpPr/>
          <p:nvPr/>
        </p:nvSpPr>
        <p:spPr>
          <a:xfrm>
            <a:off x="6473952" y="2651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6912864" y="26334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DVM (Claim)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912864" y="296265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per SO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473952" y="3383280"/>
            <a:ext cx="2157984" cy="274320"/>
          </a:xfrm>
          <a:prstGeom prst="roundRect">
            <a:avLst>
              <a:gd name="adj" fmla="val 26667"/>
            </a:avLst>
          </a:prstGeom>
          <a:solidFill>
            <a:srgbClr val="CCFBF1"/>
          </a:solidFill>
          <a:ln/>
        </p:spPr>
      </p:sp>
      <p:sp>
        <p:nvSpPr>
          <p:cNvPr id="59" name="Text 57"/>
          <p:cNvSpPr/>
          <p:nvPr/>
        </p:nvSpPr>
        <p:spPr>
          <a:xfrm>
            <a:off x="6473952" y="3383280"/>
            <a:ext cx="2157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PENDING_VP_CLAIM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9226296" y="256032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226296" y="2560320"/>
            <a:ext cx="164592" cy="123444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/>
        </p:spPr>
      </p:sp>
      <p:sp>
        <p:nvSpPr>
          <p:cNvPr id="62" name="Shape 60"/>
          <p:cNvSpPr/>
          <p:nvPr/>
        </p:nvSpPr>
        <p:spPr>
          <a:xfrm>
            <a:off x="9427464" y="2651760"/>
            <a:ext cx="384048" cy="384048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63" name="Text 61"/>
          <p:cNvSpPr/>
          <p:nvPr/>
        </p:nvSpPr>
        <p:spPr>
          <a:xfrm>
            <a:off x="9427464" y="2651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9866376" y="26334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CLAIM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9866376" y="296265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Approve per SO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9427464" y="3383280"/>
            <a:ext cx="2157984" cy="274320"/>
          </a:xfrm>
          <a:prstGeom prst="roundRect">
            <a:avLst>
              <a:gd name="adj" fmla="val 26667"/>
            </a:avLst>
          </a:prstGeom>
          <a:solidFill>
            <a:srgbClr val="DBEAFE"/>
          </a:solidFill>
          <a:ln/>
        </p:spPr>
      </p:sp>
      <p:sp>
        <p:nvSpPr>
          <p:cNvPr id="67" name="Text 65"/>
          <p:cNvSpPr/>
          <p:nvPr/>
        </p:nvSpPr>
        <p:spPr>
          <a:xfrm>
            <a:off x="9427464" y="3383280"/>
            <a:ext cx="2157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COMPLETED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365760" y="6217920"/>
            <a:ext cx="11430000" cy="384048"/>
          </a:xfrm>
          <a:prstGeom prst="roundRect">
            <a:avLst>
              <a:gd name="adj" fmla="val 1904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48640" y="6217920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Partial Forwarding: SCM สามารถ forward ทีละ style ได้ — VP SCM และ PRESIDENT อนุมัติได้ทันทีที่แต่ละ style พร้อม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NYG Flow — Step 1–3: Create → VP MER → SCM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749040" cy="502920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3175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3749040" cy="566928"/>
          </a:xfrm>
          <a:prstGeom prst="roundRect">
            <a:avLst>
              <a:gd name="adj" fmla="val 24194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14400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MER USER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1664208"/>
            <a:ext cx="182880" cy="1828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00200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กรอก Request ใหม่ (New Request)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2322576"/>
            <a:ext cx="182880" cy="1828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258568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ระบุ Brand / Style / SO / Qty / Date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2980944"/>
            <a:ext cx="182880" cy="1828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916936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แนบ Template Excel (.xlsx)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3639312"/>
            <a:ext cx="182880" cy="1828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575304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ส่งให้ VP MER พิจารณา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5349240"/>
            <a:ext cx="3383280" cy="475488"/>
          </a:xfrm>
          <a:prstGeom prst="roundRect">
            <a:avLst>
              <a:gd name="adj" fmla="val 19231"/>
            </a:avLst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534924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PENDING_VP_MER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97680" y="914400"/>
            <a:ext cx="3749040" cy="502920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3175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0" y="914400"/>
            <a:ext cx="3749040" cy="566928"/>
          </a:xfrm>
          <a:prstGeom prst="roundRect">
            <a:avLst>
              <a:gd name="adj" fmla="val 24194"/>
            </a:avLst>
          </a:prstGeom>
          <a:solidFill>
            <a:srgbClr val="4338CA"/>
          </a:solidFill>
          <a:ln/>
        </p:spPr>
      </p:sp>
      <p:sp>
        <p:nvSpPr>
          <p:cNvPr id="19" name="Text 17"/>
          <p:cNvSpPr/>
          <p:nvPr/>
        </p:nvSpPr>
        <p:spPr>
          <a:xfrm>
            <a:off x="4434840" y="914400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VP MER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498848" y="1664208"/>
            <a:ext cx="182880" cy="182880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600200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เห็น Request ใน APPROVALS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98848" y="2322576"/>
            <a:ext cx="182880" cy="182880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2258568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 แยกตาม Style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98848" y="2980944"/>
            <a:ext cx="182880" cy="182880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2916936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สามารถ Reject บาง Style ได้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498848" y="3639312"/>
            <a:ext cx="182880" cy="182880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3575304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เมื่อ Approve ทุก Style → ส่งไป SCM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80560" y="5349240"/>
            <a:ext cx="3383280" cy="475488"/>
          </a:xfrm>
          <a:prstGeom prst="roundRect">
            <a:avLst>
              <a:gd name="adj" fmla="val 19231"/>
            </a:avLst>
          </a:prstGeom>
          <a:solidFill>
            <a:srgbClr val="E0E7FF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0560" y="534924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PENDING_SCM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29600" y="914400"/>
            <a:ext cx="3749040" cy="502920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31750">
            <a:solidFill>
              <a:srgbClr val="D9770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0" y="914400"/>
            <a:ext cx="3749040" cy="566928"/>
          </a:xfrm>
          <a:prstGeom prst="roundRect">
            <a:avLst>
              <a:gd name="adj" fmla="val 24194"/>
            </a:avLst>
          </a:prstGeom>
          <a:solidFill>
            <a:srgbClr val="D97706"/>
          </a:solidFill>
          <a:ln/>
        </p:spPr>
      </p:sp>
      <p:sp>
        <p:nvSpPr>
          <p:cNvPr id="32" name="Text 30"/>
          <p:cNvSpPr/>
          <p:nvPr/>
        </p:nvSpPr>
        <p:spPr>
          <a:xfrm>
            <a:off x="8366760" y="914400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SCM USER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430768" y="1664208"/>
            <a:ext cx="182880" cy="1828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4" name="Text 32"/>
          <p:cNvSpPr/>
          <p:nvPr/>
        </p:nvSpPr>
        <p:spPr>
          <a:xfrm>
            <a:off x="8686800" y="1600200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เห็น SO ที่ VP MER อนุมัติแล้ว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430768" y="2322576"/>
            <a:ext cx="182880" cy="1828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6" name="Text 34"/>
          <p:cNvSpPr/>
          <p:nvPr/>
        </p:nvSpPr>
        <p:spPr>
          <a:xfrm>
            <a:off x="8686800" y="2258568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กำหนด Claim Dept ให้แต่ละ SO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430768" y="2980944"/>
            <a:ext cx="182880" cy="1828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8" name="Text 36"/>
          <p:cNvSpPr/>
          <p:nvPr/>
        </p:nvSpPr>
        <p:spPr>
          <a:xfrm>
            <a:off x="8686800" y="2916936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ใส่ Reason Delay (ถ้ามี)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430768" y="3639312"/>
            <a:ext cx="182880" cy="1828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0" name="Text 38"/>
          <p:cNvSpPr/>
          <p:nvPr/>
        </p:nvSpPr>
        <p:spPr>
          <a:xfrm>
            <a:off x="8686800" y="3575304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Forward ได้ (ทีละ style)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430768" y="4297680"/>
            <a:ext cx="182880" cy="1828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2" name="Text 40"/>
          <p:cNvSpPr/>
          <p:nvPr/>
        </p:nvSpPr>
        <p:spPr>
          <a:xfrm>
            <a:off x="8686800" y="4233672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SCM จะ Approve style ที่ forward แล้ว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412480" y="5349240"/>
            <a:ext cx="3383280" cy="475488"/>
          </a:xfrm>
          <a:prstGeom prst="roundRect">
            <a:avLst>
              <a:gd name="adj" fmla="val 19231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12480" y="534924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VP SCM อนุมัติ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NYG Flow — Step 4–6: VP SCM → President → Logistics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749040" cy="502920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3175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3749040" cy="566928"/>
          </a:xfrm>
          <a:prstGeom prst="roundRect">
            <a:avLst>
              <a:gd name="adj" fmla="val 24194"/>
            </a:avLst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14400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VP SCM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1664208"/>
            <a:ext cx="182880" cy="1828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00200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เห็น Style ที่ SCM forward แล้ว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2322576"/>
            <a:ext cx="182880" cy="1828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258568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 แยกตาม Style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2980944"/>
            <a:ext cx="182880" cy="1828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916936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SCM ได้ถ้าข้อมูลไม่ครบ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3639312"/>
            <a:ext cx="182880" cy="1828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575304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เมื่อ Approve ทุก Style → PRESIDENT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5349240"/>
            <a:ext cx="3383280" cy="475488"/>
          </a:xfrm>
          <a:prstGeom prst="roundRect">
            <a:avLst>
              <a:gd name="adj" fmla="val 19231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534924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PENDING_PRESIDENT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97680" y="914400"/>
            <a:ext cx="3749040" cy="502920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31750">
            <a:solidFill>
              <a:srgbClr val="7C2D1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0" y="914400"/>
            <a:ext cx="3749040" cy="566928"/>
          </a:xfrm>
          <a:prstGeom prst="roundRect">
            <a:avLst>
              <a:gd name="adj" fmla="val 24194"/>
            </a:avLst>
          </a:prstGeom>
          <a:solidFill>
            <a:srgbClr val="7C2D12"/>
          </a:solidFill>
          <a:ln/>
        </p:spPr>
      </p:sp>
      <p:sp>
        <p:nvSpPr>
          <p:cNvPr id="19" name="Text 17"/>
          <p:cNvSpPr/>
          <p:nvPr/>
        </p:nvSpPr>
        <p:spPr>
          <a:xfrm>
            <a:off x="4434840" y="914400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PRESIDENT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498848" y="1664208"/>
            <a:ext cx="182880" cy="182880"/>
          </a:xfrm>
          <a:prstGeom prst="ellipse">
            <a:avLst/>
          </a:prstGeom>
          <a:solidFill>
            <a:srgbClr val="7C2D12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600200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เห็น Style ที่ VP SCM อนุมัติแล้ว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98848" y="2322576"/>
            <a:ext cx="182880" cy="182880"/>
          </a:xfrm>
          <a:prstGeom prst="ellipse">
            <a:avLst/>
          </a:prstGeom>
          <a:solidFill>
            <a:srgbClr val="7C2D12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2258568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 แยกตาม Style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98848" y="2980944"/>
            <a:ext cx="182880" cy="182880"/>
          </a:xfrm>
          <a:prstGeom prst="ellipse">
            <a:avLst/>
          </a:prstGeom>
          <a:solidFill>
            <a:srgbClr val="7C2D12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2916936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SCM ได้ถ้าต้องการ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498848" y="3639312"/>
            <a:ext cx="182880" cy="182880"/>
          </a:xfrm>
          <a:prstGeom prst="ellipse">
            <a:avLst/>
          </a:prstGeom>
          <a:solidFill>
            <a:srgbClr val="7C2D12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3575304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เมื่อ Approve ทุก Style → LOGISTICS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80560" y="5349240"/>
            <a:ext cx="3383280" cy="475488"/>
          </a:xfrm>
          <a:prstGeom prst="roundRect">
            <a:avLst>
              <a:gd name="adj" fmla="val 19231"/>
            </a:avLst>
          </a:prstGeom>
          <a:solidFill>
            <a:srgbClr val="FEE2E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0560" y="534924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PENDING_LOGISTICS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29600" y="914400"/>
            <a:ext cx="3749040" cy="502920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31750">
            <a:solidFill>
              <a:srgbClr val="0596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0" y="914400"/>
            <a:ext cx="3749040" cy="566928"/>
          </a:xfrm>
          <a:prstGeom prst="roundRect">
            <a:avLst>
              <a:gd name="adj" fmla="val 24194"/>
            </a:avLst>
          </a:prstGeom>
          <a:solidFill>
            <a:srgbClr val="059669"/>
          </a:solidFill>
          <a:ln/>
        </p:spPr>
      </p:sp>
      <p:sp>
        <p:nvSpPr>
          <p:cNvPr id="32" name="Text 30"/>
          <p:cNvSpPr/>
          <p:nvPr/>
        </p:nvSpPr>
        <p:spPr>
          <a:xfrm>
            <a:off x="8366760" y="914400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LOGISTICS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430768" y="1664208"/>
            <a:ext cx="182880" cy="1828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4" name="Text 32"/>
          <p:cNvSpPr/>
          <p:nvPr/>
        </p:nvSpPr>
        <p:spPr>
          <a:xfrm>
            <a:off x="8686800" y="1600200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ใส่ Invoice No / Booking Date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430768" y="2322576"/>
            <a:ext cx="182880" cy="1828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6" name="Text 34"/>
          <p:cNvSpPr/>
          <p:nvPr/>
        </p:nvSpPr>
        <p:spPr>
          <a:xfrm>
            <a:off x="8686800" y="2258568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ใส่ Actual Air Freight (THB)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430768" y="2980944"/>
            <a:ext cx="182880" cy="1828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8" name="Text 36"/>
          <p:cNvSpPr/>
          <p:nvPr/>
        </p:nvSpPr>
        <p:spPr>
          <a:xfrm>
            <a:off x="8686800" y="2916936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ทีละ SO (Partial ได้)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430768" y="3639312"/>
            <a:ext cx="182880" cy="1828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0" name="Text 38"/>
          <p:cNvSpPr/>
          <p:nvPr/>
        </p:nvSpPr>
        <p:spPr>
          <a:xfrm>
            <a:off x="8686800" y="3575304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Booking + Logistics File พร้อม Download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412480" y="5349240"/>
            <a:ext cx="3383280" cy="475488"/>
          </a:xfrm>
          <a:prstGeom prst="roundRect">
            <a:avLst>
              <a:gd name="adj" fmla="val 19231"/>
            </a:avLst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12480" y="534924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PENDING_CLAIM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NYG Flow — Step 7–8: Claim → VP Claim → COMPLETED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371600" y="914400"/>
            <a:ext cx="4572000" cy="5120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1750">
            <a:solidFill>
              <a:srgbClr val="0F7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914400"/>
            <a:ext cx="4572000" cy="566928"/>
          </a:xfrm>
          <a:prstGeom prst="roundRect">
            <a:avLst>
              <a:gd name="adj" fmla="val 24194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914400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 DVM / CLAIM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572768" y="1664208"/>
            <a:ext cx="182880" cy="1828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160020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เห็น SO ที่ LOGISTICS forward แล้ว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572768" y="2322576"/>
            <a:ext cx="182880" cy="1828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0" y="2258568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Dept ตรงกับที่ SCM กำหนด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572768" y="2980944"/>
            <a:ext cx="182880" cy="1828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1828800" y="291693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 แยกตาม SO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572768" y="3639312"/>
            <a:ext cx="182880" cy="1828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0" y="3575304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มีระบบ Priority (P1 ต้องอนุมัติก่อน P2)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572768" y="4297680"/>
            <a:ext cx="182880" cy="1828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1828800" y="4233672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เมื่อทุก Priority อนุมัติ → VP CLAIM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554480" y="5376672"/>
            <a:ext cx="4206240" cy="475488"/>
          </a:xfrm>
          <a:prstGeom prst="roundRect">
            <a:avLst>
              <a:gd name="adj" fmla="val 19231"/>
            </a:avLst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54480" y="5376672"/>
            <a:ext cx="4206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PENDING_VP_CLAIM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914400"/>
            <a:ext cx="4572000" cy="5120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1750">
            <a:solidFill>
              <a:srgbClr val="1E3A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914400"/>
            <a:ext cx="4572000" cy="566928"/>
          </a:xfrm>
          <a:prstGeom prst="roundRect">
            <a:avLst>
              <a:gd name="adj" fmla="val 24194"/>
            </a:avLst>
          </a:prstGeom>
          <a:solidFill>
            <a:srgbClr val="1E3A8A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914400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 VP CLAIM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19088" y="1664208"/>
            <a:ext cx="182880" cy="18288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160020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เห็น SO ที่ DVM อนุมัติครบแล้ว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19088" y="2322576"/>
            <a:ext cx="182880" cy="18288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0" y="2258568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 แยกตาม SO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19088" y="2980944"/>
            <a:ext cx="182880" cy="18288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0" y="291693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มีระบบ Priority เช่นกัน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19088" y="3639312"/>
            <a:ext cx="182880" cy="18288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29" name="Text 27"/>
          <p:cNvSpPr/>
          <p:nvPr/>
        </p:nvSpPr>
        <p:spPr>
          <a:xfrm>
            <a:off x="6675120" y="3575304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เมื่อทุก Priority VP อนุมัติ → COMPLETED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19088" y="4297680"/>
            <a:ext cx="182880" cy="18288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31" name="Text 29"/>
          <p:cNvSpPr/>
          <p:nvPr/>
        </p:nvSpPr>
        <p:spPr>
          <a:xfrm>
            <a:off x="6675120" y="4233672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Final File พร้อม Download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0" y="5376672"/>
            <a:ext cx="4206240" cy="475488"/>
          </a:xfrm>
          <a:prstGeom prst="roundRect">
            <a:avLst>
              <a:gd name="adj" fmla="val 19231"/>
            </a:avLst>
          </a:prstGeom>
          <a:solidFill>
            <a:srgbClr val="DBEAFE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5376672"/>
            <a:ext cx="4206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COMPLETED ✓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6236208"/>
            <a:ext cx="11640312" cy="402336"/>
          </a:xfrm>
          <a:prstGeom prst="roundRect">
            <a:avLst>
              <a:gd name="adj" fmla="val 22727"/>
            </a:avLst>
          </a:prstGeom>
          <a:solidFill>
            <a:srgbClr val="ECFDF5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236208"/>
            <a:ext cx="11274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Departments: COMMERCIAL  ·  PROCUREMENT  ·  NYK  ·  NYG  ·  PRODUCTION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 Flow — Step Detail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577840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5577840" cy="530352"/>
          </a:xfrm>
          <a:prstGeom prst="roundRect">
            <a:avLst>
              <a:gd name="adj" fmla="val 24138"/>
            </a:avLst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14400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1–2   MER GW  →  VP MER GW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1600200"/>
            <a:ext cx="164592" cy="16459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536192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 GW สร้าง Request ใหม่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2103120"/>
            <a:ext cx="164592" cy="16459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039112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MER GW Approve / Reject แยก Style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2606040"/>
            <a:ext cx="164592" cy="16459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542032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เมื่อ Approve ครบ → PRESIDENT GW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09360" y="914400"/>
            <a:ext cx="5577840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25400">
            <a:solidFill>
              <a:srgbClr val="7C2D1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914400"/>
            <a:ext cx="5577840" cy="530352"/>
          </a:xfrm>
          <a:prstGeom prst="roundRect">
            <a:avLst>
              <a:gd name="adj" fmla="val 24138"/>
            </a:avLst>
          </a:prstGeom>
          <a:solidFill>
            <a:srgbClr val="7C2D12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914400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 PRESIDENT GW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10528" y="1600200"/>
            <a:ext cx="164592" cy="164592"/>
          </a:xfrm>
          <a:prstGeom prst="ellipse">
            <a:avLst/>
          </a:prstGeom>
          <a:solidFill>
            <a:srgbClr val="7C2D12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1536192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 แยกตาม Style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10528" y="2103120"/>
            <a:ext cx="164592" cy="164592"/>
          </a:xfrm>
          <a:prstGeom prst="ellipse">
            <a:avLst/>
          </a:prstGeom>
          <a:solidFill>
            <a:srgbClr val="7C2D12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2039112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เมื่อ Approve ครบ → LOGISTICS GW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10528" y="2606040"/>
            <a:ext cx="164592" cy="164592"/>
          </a:xfrm>
          <a:prstGeom prst="ellipse">
            <a:avLst/>
          </a:prstGeom>
          <a:solidFill>
            <a:srgbClr val="7C2D12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2542032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Booking File พร้อม Download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794760"/>
            <a:ext cx="5577840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794760"/>
            <a:ext cx="5577840" cy="530352"/>
          </a:xfrm>
          <a:prstGeom prst="roundRect">
            <a:avLst>
              <a:gd name="adj" fmla="val 24138"/>
            </a:avLst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794760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 LOGISTICS GW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6928" y="448056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416552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ใส่ Invoice No / Booking Date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66928" y="498348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919472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ใส่ Actual Air Freight (THB)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66928" y="548640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5422392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 Claim Dept (Supplier ใน/นอก/NYK)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66928" y="598932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5925312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ทีละ SO (Partial ได้)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309360" y="3794760"/>
            <a:ext cx="5577840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25400">
            <a:solidFill>
              <a:srgbClr val="04785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09360" y="3794760"/>
            <a:ext cx="5577840" cy="530352"/>
          </a:xfrm>
          <a:prstGeom prst="roundRect">
            <a:avLst>
              <a:gd name="adj" fmla="val 24138"/>
            </a:avLst>
          </a:prstGeom>
          <a:solidFill>
            <a:srgbClr val="047857"/>
          </a:solidFill>
          <a:ln/>
        </p:spPr>
      </p:sp>
      <p:sp>
        <p:nvSpPr>
          <p:cNvPr id="35" name="Text 33"/>
          <p:cNvSpPr/>
          <p:nvPr/>
        </p:nvSpPr>
        <p:spPr>
          <a:xfrm>
            <a:off x="6446520" y="3794760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 CLAIM GW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510528" y="4480560"/>
            <a:ext cx="164592" cy="164592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37" name="Text 35"/>
          <p:cNvSpPr/>
          <p:nvPr/>
        </p:nvSpPr>
        <p:spPr>
          <a:xfrm>
            <a:off x="6766560" y="4416552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เห็นเฉพาะ Request ของ Claim Dept ตัวเอง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510528" y="4983480"/>
            <a:ext cx="164592" cy="164592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39" name="Text 37"/>
          <p:cNvSpPr/>
          <p:nvPr/>
        </p:nvSpPr>
        <p:spPr>
          <a:xfrm>
            <a:off x="6766560" y="4919472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Approve: Checkbox หลาย SO พร้อมกัน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510528" y="5486400"/>
            <a:ext cx="164592" cy="164592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41" name="Text 39"/>
          <p:cNvSpPr/>
          <p:nvPr/>
        </p:nvSpPr>
        <p:spPr>
          <a:xfrm>
            <a:off x="6766560" y="5422392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 ทีละ SO ก็ได้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510528" y="5989320"/>
            <a:ext cx="164592" cy="164592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43" name="Text 41"/>
          <p:cNvSpPr/>
          <p:nvPr/>
        </p:nvSpPr>
        <p:spPr>
          <a:xfrm>
            <a:off x="6766560" y="5925312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เมื่อ Approve ทุก SO → COMPLETED ✓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Status Flow (SO Level) &amp; PDF Files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1261872" cy="804672"/>
          </a:xfrm>
          <a:prstGeom prst="roundRect">
            <a:avLst>
              <a:gd name="adj" fmla="val 11364"/>
            </a:avLst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325880"/>
            <a:ext cx="12618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536192" y="1728216"/>
            <a:ext cx="109728" cy="0"/>
          </a:xfrm>
          <a:prstGeom prst="line">
            <a:avLst/>
          </a:prstGeom>
          <a:noFill/>
          <a:ln w="254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645920" y="1325880"/>
            <a:ext cx="1261872" cy="804672"/>
          </a:xfrm>
          <a:prstGeom prst="roundRect">
            <a:avLst>
              <a:gd name="adj" fmla="val 11364"/>
            </a:avLst>
          </a:prstGeom>
          <a:solidFill>
            <a:srgbClr val="4338CA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1325880"/>
            <a:ext cx="12618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MER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07792" y="1728216"/>
            <a:ext cx="109728" cy="0"/>
          </a:xfrm>
          <a:prstGeom prst="line">
            <a:avLst/>
          </a:prstGeom>
          <a:noFill/>
          <a:ln w="254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017520" y="1325880"/>
            <a:ext cx="1261872" cy="804672"/>
          </a:xfrm>
          <a:prstGeom prst="roundRect">
            <a:avLst>
              <a:gd name="adj" fmla="val 11364"/>
            </a:avLst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0" y="1325880"/>
            <a:ext cx="12618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79392" y="1728216"/>
            <a:ext cx="109728" cy="0"/>
          </a:xfrm>
          <a:prstGeom prst="line">
            <a:avLst/>
          </a:prstGeom>
          <a:noFill/>
          <a:ln w="254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389120" y="1325880"/>
            <a:ext cx="1261872" cy="804672"/>
          </a:xfrm>
          <a:prstGeom prst="roundRect">
            <a:avLst>
              <a:gd name="adj" fmla="val 11364"/>
            </a:avLst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0" y="1325880"/>
            <a:ext cx="12618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50992" y="1728216"/>
            <a:ext cx="109728" cy="0"/>
          </a:xfrm>
          <a:prstGeom prst="line">
            <a:avLst/>
          </a:prstGeom>
          <a:noFill/>
          <a:ln w="254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760720" y="1325880"/>
            <a:ext cx="1261872" cy="804672"/>
          </a:xfrm>
          <a:prstGeom prst="roundRect">
            <a:avLst>
              <a:gd name="adj" fmla="val 11364"/>
            </a:avLst>
          </a:prstGeom>
          <a:solidFill>
            <a:srgbClr val="7C2D12"/>
          </a:solidFill>
          <a:ln/>
        </p:spPr>
      </p:sp>
      <p:sp>
        <p:nvSpPr>
          <p:cNvPr id="18" name="Text 16"/>
          <p:cNvSpPr/>
          <p:nvPr/>
        </p:nvSpPr>
        <p:spPr>
          <a:xfrm>
            <a:off x="5760720" y="1325880"/>
            <a:ext cx="12618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022592" y="1728216"/>
            <a:ext cx="109728" cy="0"/>
          </a:xfrm>
          <a:prstGeom prst="line">
            <a:avLst/>
          </a:prstGeom>
          <a:noFill/>
          <a:ln w="254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132320" y="1325880"/>
            <a:ext cx="1261872" cy="804672"/>
          </a:xfrm>
          <a:prstGeom prst="roundRect">
            <a:avLst>
              <a:gd name="adj" fmla="val 11364"/>
            </a:avLst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0" y="1325880"/>
            <a:ext cx="12618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394192" y="1728216"/>
            <a:ext cx="109728" cy="0"/>
          </a:xfrm>
          <a:prstGeom prst="line">
            <a:avLst/>
          </a:prstGeom>
          <a:noFill/>
          <a:ln w="254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503920" y="1325880"/>
            <a:ext cx="1261872" cy="804672"/>
          </a:xfrm>
          <a:prstGeom prst="roundRect">
            <a:avLst>
              <a:gd name="adj" fmla="val 11364"/>
            </a:avLst>
          </a:prstGeom>
          <a:solidFill>
            <a:srgbClr val="0F766E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1325880"/>
            <a:ext cx="12618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765792" y="1728216"/>
            <a:ext cx="109728" cy="0"/>
          </a:xfrm>
          <a:prstGeom prst="line">
            <a:avLst/>
          </a:prstGeom>
          <a:noFill/>
          <a:ln w="254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875520" y="1325880"/>
            <a:ext cx="1261872" cy="804672"/>
          </a:xfrm>
          <a:prstGeom prst="roundRect">
            <a:avLst>
              <a:gd name="adj" fmla="val 11364"/>
            </a:avLst>
          </a:prstGeom>
          <a:solidFill>
            <a:srgbClr val="1E3A8A"/>
          </a:solidFill>
          <a:ln/>
        </p:spPr>
      </p:sp>
      <p:sp>
        <p:nvSpPr>
          <p:cNvPr id="27" name="Text 25"/>
          <p:cNvSpPr/>
          <p:nvPr/>
        </p:nvSpPr>
        <p:spPr>
          <a:xfrm>
            <a:off x="9875520" y="1325880"/>
            <a:ext cx="12618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" y="2450592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4320" y="2834640"/>
            <a:ext cx="2286000" cy="640080"/>
          </a:xfrm>
          <a:prstGeom prst="roundRect">
            <a:avLst>
              <a:gd name="adj" fmla="val 14286"/>
            </a:avLst>
          </a:prstGeom>
          <a:solidFill>
            <a:srgbClr val="6B7280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28346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560320" y="3154680"/>
            <a:ext cx="365760" cy="0"/>
          </a:xfrm>
          <a:prstGeom prst="line">
            <a:avLst/>
          </a:prstGeom>
          <a:noFill/>
          <a:ln w="254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2926080" y="2834640"/>
            <a:ext cx="2286000" cy="640080"/>
          </a:xfrm>
          <a:prstGeom prst="roundRect">
            <a:avLst>
              <a:gd name="adj" fmla="val 14286"/>
            </a:avLst>
          </a:prstGeom>
          <a:solidFill>
            <a:srgbClr val="7C2D12"/>
          </a:solidFill>
          <a:ln/>
        </p:spPr>
      </p:sp>
      <p:sp>
        <p:nvSpPr>
          <p:cNvPr id="33" name="Text 31"/>
          <p:cNvSpPr/>
          <p:nvPr/>
        </p:nvSpPr>
        <p:spPr>
          <a:xfrm>
            <a:off x="2926080" y="28346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 PASSED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212080" y="3154680"/>
            <a:ext cx="365760" cy="0"/>
          </a:xfrm>
          <a:prstGeom prst="line">
            <a:avLst/>
          </a:prstGeom>
          <a:noFill/>
          <a:ln w="254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577840" y="2834640"/>
            <a:ext cx="2286000" cy="640080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/>
        </p:spPr>
      </p:sp>
      <p:sp>
        <p:nvSpPr>
          <p:cNvPr id="36" name="Text 34"/>
          <p:cNvSpPr/>
          <p:nvPr/>
        </p:nvSpPr>
        <p:spPr>
          <a:xfrm>
            <a:off x="5577840" y="28346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PASSED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863840" y="3154680"/>
            <a:ext cx="365760" cy="0"/>
          </a:xfrm>
          <a:prstGeom prst="line">
            <a:avLst/>
          </a:prstGeom>
          <a:noFill/>
          <a:ln w="25400">
            <a:solidFill>
              <a:srgbClr val="AAAAAA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229600" y="2834640"/>
            <a:ext cx="2286000" cy="640080"/>
          </a:xfrm>
          <a:prstGeom prst="roundRect">
            <a:avLst>
              <a:gd name="adj" fmla="val 14286"/>
            </a:avLst>
          </a:prstGeom>
          <a:solidFill>
            <a:srgbClr val="047857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0" y="28346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74320" y="3749040"/>
            <a:ext cx="1161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Files ที่แต่ละขั้นตอน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274320" y="4206240"/>
            <a:ext cx="2011680" cy="329184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2" name="Text 40"/>
          <p:cNvSpPr/>
          <p:nvPr/>
        </p:nvSpPr>
        <p:spPr>
          <a:xfrm>
            <a:off x="320040" y="420624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331720" y="4206240"/>
            <a:ext cx="4572000" cy="329184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4" name="Text 42"/>
          <p:cNvSpPr/>
          <p:nvPr/>
        </p:nvSpPr>
        <p:spPr>
          <a:xfrm>
            <a:off x="2377440" y="4206240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NYG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949440" y="4206240"/>
            <a:ext cx="4572000" cy="329184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6" name="Text 44"/>
          <p:cNvSpPr/>
          <p:nvPr/>
        </p:nvSpPr>
        <p:spPr>
          <a:xfrm>
            <a:off x="6995160" y="4206240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74320" y="4553712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7472" y="4553712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FILE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331720" y="4553712"/>
            <a:ext cx="4572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404872" y="4553712"/>
            <a:ext cx="4425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หลัง President Approve (PRES_PASSED+)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949440" y="4553712"/>
            <a:ext cx="4572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22592" y="4553712"/>
            <a:ext cx="4425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หลัง President GW Approve (PRES_PASSED+)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74320" y="5010912"/>
            <a:ext cx="2011680" cy="457200"/>
          </a:xfrm>
          <a:prstGeom prst="rect">
            <a:avLst/>
          </a:prstGeom>
          <a:solidFill>
            <a:srgbClr val="F0F8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7472" y="5010912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FILE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331720" y="5010912"/>
            <a:ext cx="4572000" cy="457200"/>
          </a:xfrm>
          <a:prstGeom prst="rect">
            <a:avLst/>
          </a:prstGeom>
          <a:solidFill>
            <a:srgbClr val="F0F8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404872" y="5010912"/>
            <a:ext cx="4425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หลัง Logistics Enter Invoice (LOG_PASSED+)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949440" y="5010912"/>
            <a:ext cx="4572000" cy="457200"/>
          </a:xfrm>
          <a:prstGeom prst="rect">
            <a:avLst/>
          </a:prstGeom>
          <a:solidFill>
            <a:srgbClr val="F0F8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022592" y="5010912"/>
            <a:ext cx="4425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หลัง Logistics GW Confirm (LOG_PASSED+)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74320" y="5468112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47472" y="5468112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FILE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331720" y="5468112"/>
            <a:ext cx="4572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404872" y="5468112"/>
            <a:ext cx="4425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หลัง VP CLAIM Approve (COMPLETED)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949440" y="5468112"/>
            <a:ext cx="4572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022592" y="5468112"/>
            <a:ext cx="4425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หลัง CLAIM GW Approve (COMPLETED)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9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NYG vs GW — เปรียบเทียบสรุป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474720" cy="43891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รายการ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97680" y="914400"/>
            <a:ext cx="3657600" cy="43891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0" y="91440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321040" y="914400"/>
            <a:ext cx="3657600" cy="438912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0" y="91440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3474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371600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จำนวนขั้นตอน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1371600"/>
            <a:ext cx="3657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137160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ขั้นตอน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321040" y="1371600"/>
            <a:ext cx="3657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137160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ขั้นตอน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1901952"/>
            <a:ext cx="3474720" cy="530352"/>
          </a:xfrm>
          <a:prstGeom prst="rect">
            <a:avLst/>
          </a:prstGeom>
          <a:solidFill>
            <a:srgbClr val="EFF6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1901952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ผู้กำหนด Claim Dept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97680" y="1901952"/>
            <a:ext cx="3657600" cy="530352"/>
          </a:xfrm>
          <a:prstGeom prst="rect">
            <a:avLst/>
          </a:prstGeom>
          <a:solidFill>
            <a:srgbClr val="EFF6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0" y="1901952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SCM USER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321040" y="1901952"/>
            <a:ext cx="3657600" cy="530352"/>
          </a:xfrm>
          <a:prstGeom prst="rect">
            <a:avLst/>
          </a:prstGeom>
          <a:solidFill>
            <a:srgbClr val="EFF6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1901952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GW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432304"/>
            <a:ext cx="3474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432304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SCM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97680" y="2432304"/>
            <a:ext cx="3657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0" y="2432304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มี ✓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321040" y="2432304"/>
            <a:ext cx="3657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0" y="2432304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 ✗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2962656"/>
            <a:ext cx="3474720" cy="530352"/>
          </a:xfrm>
          <a:prstGeom prst="rect">
            <a:avLst/>
          </a:prstGeom>
          <a:solidFill>
            <a:srgbClr val="EFF6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2962656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297680" y="2962656"/>
            <a:ext cx="3657600" cy="530352"/>
          </a:xfrm>
          <a:prstGeom prst="rect">
            <a:avLst/>
          </a:prstGeom>
          <a:solidFill>
            <a:srgbClr val="EFF6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0" y="2962656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มี ✓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321040" y="2962656"/>
            <a:ext cx="3657600" cy="530352"/>
          </a:xfrm>
          <a:prstGeom prst="rect">
            <a:avLst/>
          </a:prstGeom>
          <a:solidFill>
            <a:srgbClr val="EFF6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0" y="2962656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มี ✓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3493008"/>
            <a:ext cx="3474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493008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CLAIM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297680" y="3493008"/>
            <a:ext cx="3657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0" y="3493008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มี ✓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321040" y="3493008"/>
            <a:ext cx="3657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12480" y="3493008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 ✗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4023360"/>
            <a:ext cx="3474720" cy="530352"/>
          </a:xfrm>
          <a:prstGeom prst="rect">
            <a:avLst/>
          </a:prstGeom>
          <a:solidFill>
            <a:srgbClr val="EFF6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4023360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Approve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297680" y="4023360"/>
            <a:ext cx="3657600" cy="530352"/>
          </a:xfrm>
          <a:prstGeom prst="rect">
            <a:avLst/>
          </a:prstGeom>
          <a:solidFill>
            <a:srgbClr val="EFF6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89120" y="402336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321040" y="4023360"/>
            <a:ext cx="3657600" cy="530352"/>
          </a:xfrm>
          <a:prstGeom prst="rect">
            <a:avLst/>
          </a:prstGeom>
          <a:solidFill>
            <a:srgbClr val="EFF6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12480" y="4023360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มี ✓ (CLAIM GW)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7200" y="4553712"/>
            <a:ext cx="3474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4553712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Forwarding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297680" y="4553712"/>
            <a:ext cx="3657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89120" y="4553712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มี ✓ (SCM)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321040" y="4553712"/>
            <a:ext cx="3657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12480" y="4553712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มี ✓ (LOGISTICS GW)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7200" y="5084064"/>
            <a:ext cx="3474720" cy="530352"/>
          </a:xfrm>
          <a:prstGeom prst="rect">
            <a:avLst/>
          </a:prstGeom>
          <a:solidFill>
            <a:srgbClr val="EFF6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" y="5084064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SCM FILE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297680" y="5084064"/>
            <a:ext cx="3657600" cy="530352"/>
          </a:xfrm>
          <a:prstGeom prst="rect">
            <a:avLst/>
          </a:prstGeom>
          <a:solidFill>
            <a:srgbClr val="EFF6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389120" y="5084064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มี ✓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321040" y="5084064"/>
            <a:ext cx="3657600" cy="530352"/>
          </a:xfrm>
          <a:prstGeom prst="rect">
            <a:avLst/>
          </a:prstGeom>
          <a:solidFill>
            <a:srgbClr val="EFF6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412480" y="5084064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 ✗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 Approval Flow —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62940" y="1991153"/>
            <a:ext cx="2011680" cy="347472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31750">
            <a:solidFill>
              <a:srgbClr val="0596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94460" y="2119169"/>
            <a:ext cx="548640" cy="5486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1394460" y="2119169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54380" y="2777537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 GW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54380" y="3307889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Request</a:t>
            </a:r>
            <a:b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</a:t>
            </a:r>
            <a:b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</a:t>
            </a:r>
            <a:r>
              <a:rPr lang="en-US" sz="10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Dept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54380" y="4688633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4380" y="4688633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PENDING_VP_MER_GW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692908" y="3728513"/>
            <a:ext cx="164592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875788" y="1991153"/>
            <a:ext cx="2011680" cy="347472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31750">
            <a:solidFill>
              <a:srgbClr val="065F4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07308" y="2119169"/>
            <a:ext cx="548640" cy="54864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4" name="Text 12"/>
          <p:cNvSpPr/>
          <p:nvPr/>
        </p:nvSpPr>
        <p:spPr>
          <a:xfrm>
            <a:off x="3607308" y="2119169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967228" y="2777537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MER GW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67228" y="3307889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by Style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67228" y="4688633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67228" y="4688633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PENDING_PRESIDENT_GW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905756" y="3728513"/>
            <a:ext cx="164592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088636" y="1991153"/>
            <a:ext cx="2011680" cy="347472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31750">
            <a:solidFill>
              <a:srgbClr val="7C2D1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20156" y="2119169"/>
            <a:ext cx="548640" cy="548640"/>
          </a:xfrm>
          <a:prstGeom prst="ellipse">
            <a:avLst/>
          </a:prstGeom>
          <a:solidFill>
            <a:srgbClr val="7C2D12"/>
          </a:solidFill>
          <a:ln/>
        </p:spPr>
      </p:sp>
      <p:sp>
        <p:nvSpPr>
          <p:cNvPr id="22" name="Text 20"/>
          <p:cNvSpPr/>
          <p:nvPr/>
        </p:nvSpPr>
        <p:spPr>
          <a:xfrm>
            <a:off x="5820156" y="2119169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180076" y="2777537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 GW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80076" y="3307889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by Style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180076" y="4688633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FEE2E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80076" y="4688633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PENDING_LOGISTICS_GW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118604" y="3728513"/>
            <a:ext cx="164592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301484" y="1991153"/>
            <a:ext cx="2011680" cy="347472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31750">
            <a:solidFill>
              <a:srgbClr val="3B82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33004" y="2119169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0" name="Text 28"/>
          <p:cNvSpPr/>
          <p:nvPr/>
        </p:nvSpPr>
        <p:spPr>
          <a:xfrm>
            <a:off x="8033004" y="2119169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392924" y="2777537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GW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92924" y="3307889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Invoice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Actual Air freight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92924" y="4688633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92924" y="4688633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PENDING_CLAIM_GW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9331452" y="3728513"/>
            <a:ext cx="164592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514332" y="1991153"/>
            <a:ext cx="2011680" cy="347472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31750">
            <a:solidFill>
              <a:srgbClr val="04785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245852" y="2119169"/>
            <a:ext cx="548640" cy="54864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38" name="Text 36"/>
          <p:cNvSpPr/>
          <p:nvPr/>
        </p:nvSpPr>
        <p:spPr>
          <a:xfrm>
            <a:off x="10245852" y="2119169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605772" y="2777537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GW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605772" y="3307889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per SO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(Batch Select)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605772" y="4688633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605772" y="4688633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C78FBF-A9F5-5A08-85B8-DB877F46A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E2E56C5-9AC9-DEC3-8FAB-900B485F4B42}"/>
              </a:ext>
            </a:extLst>
          </p:cNvPr>
          <p:cNvSpPr/>
          <p:nvPr/>
        </p:nvSpPr>
        <p:spPr>
          <a:xfrm>
            <a:off x="0" y="2288985"/>
            <a:ext cx="12188952" cy="2280029"/>
          </a:xfrm>
          <a:prstGeom prst="rect">
            <a:avLst/>
          </a:prstGeom>
          <a:solidFill>
            <a:schemeClr val="accent6">
              <a:lumMod val="50000"/>
            </a:schemeClr>
          </a:solidFill>
          <a:ln/>
        </p:spPr>
      </p:sp>
      <p:sp>
        <p:nvSpPr>
          <p:cNvPr id="45" name="Text 1">
            <a:extLst>
              <a:ext uri="{FF2B5EF4-FFF2-40B4-BE49-F238E27FC236}">
                <a16:creationId xmlns:a16="http://schemas.microsoft.com/office/drawing/2014/main" id="{2CC8E5D0-F38F-88B0-F693-8B42F4DA388A}"/>
              </a:ext>
            </a:extLst>
          </p:cNvPr>
          <p:cNvSpPr/>
          <p:nvPr/>
        </p:nvSpPr>
        <p:spPr>
          <a:xfrm>
            <a:off x="365760" y="3166437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C0BE08-EBB9-7CA0-AE7A-DB99473A1673}"/>
              </a:ext>
            </a:extLst>
          </p:cNvPr>
          <p:cNvSpPr txBox="1"/>
          <p:nvPr/>
        </p:nvSpPr>
        <p:spPr>
          <a:xfrm>
            <a:off x="4230440" y="3069771"/>
            <a:ext cx="37953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MER PROCESS</a:t>
            </a:r>
            <a:endParaRPr lang="th-TH" sz="4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7873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154167-90CA-995D-302F-3FCF69B7B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36F2BF2-E992-03B2-4A3E-D4B7796180C9}"/>
              </a:ext>
            </a:extLst>
          </p:cNvPr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45" name="Text 1">
            <a:extLst>
              <a:ext uri="{FF2B5EF4-FFF2-40B4-BE49-F238E27FC236}">
                <a16:creationId xmlns:a16="http://schemas.microsoft.com/office/drawing/2014/main" id="{21502E0F-83C9-BF7B-0033-DE88ADE8916E}"/>
              </a:ext>
            </a:extLst>
          </p:cNvPr>
          <p:cNvSpPr/>
          <p:nvPr/>
        </p:nvSpPr>
        <p:spPr>
          <a:xfrm>
            <a:off x="365760" y="0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ALL-MENU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FD75E18D-85E1-BF8E-ABB6-6B970C6556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2223" y="885102"/>
            <a:ext cx="8229246" cy="2763167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6004489C-D4BB-1EA0-3866-8C06069241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2223" y="3783563"/>
            <a:ext cx="5913566" cy="2882510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E7173FFC-0C49-24D6-B353-CFDA296C9B04}"/>
              </a:ext>
            </a:extLst>
          </p:cNvPr>
          <p:cNvSpPr txBox="1"/>
          <p:nvPr/>
        </p:nvSpPr>
        <p:spPr>
          <a:xfrm>
            <a:off x="7894491" y="3783563"/>
            <a:ext cx="194335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By Month</a:t>
            </a:r>
          </a:p>
          <a:p>
            <a:r>
              <a:rPr lang="en-US" dirty="0"/>
              <a:t>By Brand</a:t>
            </a:r>
          </a:p>
          <a:p>
            <a:r>
              <a:rPr lang="en-US" dirty="0"/>
              <a:t>By Country &gt;&gt; Port</a:t>
            </a:r>
            <a:br>
              <a:rPr lang="en-US" dirty="0"/>
            </a:br>
            <a:r>
              <a:rPr lang="en-US" dirty="0"/>
              <a:t>By BU</a:t>
            </a:r>
            <a:br>
              <a:rPr lang="en-US" dirty="0"/>
            </a:br>
            <a:r>
              <a:rPr lang="en-US" dirty="0"/>
              <a:t>By Claim Dept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2397573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07AF5A-964A-1A2B-08FB-E15B42A90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942E8D1-462C-073D-72BC-26A802386B07}"/>
              </a:ext>
            </a:extLst>
          </p:cNvPr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45" name="Text 1">
            <a:extLst>
              <a:ext uri="{FF2B5EF4-FFF2-40B4-BE49-F238E27FC236}">
                <a16:creationId xmlns:a16="http://schemas.microsoft.com/office/drawing/2014/main" id="{9E8BF1BF-40B3-D0B2-A371-2339644B2471}"/>
              </a:ext>
            </a:extLst>
          </p:cNvPr>
          <p:cNvSpPr/>
          <p:nvPr/>
        </p:nvSpPr>
        <p:spPr>
          <a:xfrm>
            <a:off x="365760" y="0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MER-AIR REQUEST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8B25F8-F8D0-6DE9-9541-8FFBD5789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48" y="932248"/>
            <a:ext cx="12192000" cy="527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4050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620896-4D9E-972D-1D92-AD9B17839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7BB4D81-6CC9-E412-B5C5-0BD61796FA4D}"/>
              </a:ext>
            </a:extLst>
          </p:cNvPr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45" name="Text 1">
            <a:extLst>
              <a:ext uri="{FF2B5EF4-FFF2-40B4-BE49-F238E27FC236}">
                <a16:creationId xmlns:a16="http://schemas.microsoft.com/office/drawing/2014/main" id="{054B346A-2553-804C-B395-F8E109116358}"/>
              </a:ext>
            </a:extLst>
          </p:cNvPr>
          <p:cNvSpPr/>
          <p:nvPr/>
        </p:nvSpPr>
        <p:spPr>
          <a:xfrm>
            <a:off x="365760" y="0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200" b="1" dirty="0">
                <a:solidFill>
                  <a:schemeClr val="bg1"/>
                </a:solidFill>
              </a:rPr>
              <a:t>MER-DOWLOAD TEMPLATE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6F42D3-1536-A347-0C95-D5706FA5D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57279"/>
            <a:ext cx="12192000" cy="53539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7DE184E-D5AE-7107-AE65-1263BC62DA9A}"/>
              </a:ext>
            </a:extLst>
          </p:cNvPr>
          <p:cNvSpPr txBox="1"/>
          <p:nvPr/>
        </p:nvSpPr>
        <p:spPr>
          <a:xfrm>
            <a:off x="3990331" y="2563167"/>
            <a:ext cx="7096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>
                <a:highlight>
                  <a:srgbClr val="FFFF00"/>
                </a:highlight>
              </a:rPr>
              <a:t>กรณีที่เทมเพลตไม่ตรง มันจะขึ้น </a:t>
            </a:r>
            <a:r>
              <a:rPr lang="en-US" dirty="0">
                <a:highlight>
                  <a:srgbClr val="FFFF00"/>
                </a:highlight>
              </a:rPr>
              <a:t>error </a:t>
            </a:r>
            <a:r>
              <a:rPr lang="th-TH" dirty="0">
                <a:highlight>
                  <a:srgbClr val="FFFF00"/>
                </a:highlight>
              </a:rPr>
              <a:t>และไม่สามารถอัพโหลดไฟล์ได้ สามรถดาวน์โหลด เทมเพลตได้มุมขวา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4B6ABD-1E75-F449-2F16-7A0C35B2D6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2353" y="3498980"/>
            <a:ext cx="7004207" cy="317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1495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F38030-28D5-C181-CAB1-A912B0DDF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D76FF84-128B-7FAF-3A48-BC0A5CC32F11}"/>
              </a:ext>
            </a:extLst>
          </p:cNvPr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45" name="Text 1">
            <a:extLst>
              <a:ext uri="{FF2B5EF4-FFF2-40B4-BE49-F238E27FC236}">
                <a16:creationId xmlns:a16="http://schemas.microsoft.com/office/drawing/2014/main" id="{1AB26A9A-4A4B-EC13-FD5D-61B035254CA6}"/>
              </a:ext>
            </a:extLst>
          </p:cNvPr>
          <p:cNvSpPr/>
          <p:nvPr/>
        </p:nvSpPr>
        <p:spPr>
          <a:xfrm>
            <a:off x="365760" y="0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ALL-APPROVALS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FD729A-0D67-8AA7-B829-906C19B2D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318976"/>
            <a:ext cx="12192000" cy="446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746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6559D-7331-1D44-5D85-68EC9FFC7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CE45CA7-599B-88DC-BF6A-B0083DB1FCA5}"/>
              </a:ext>
            </a:extLst>
          </p:cNvPr>
          <p:cNvSpPr/>
          <p:nvPr/>
        </p:nvSpPr>
        <p:spPr>
          <a:xfrm>
            <a:off x="0" y="2288985"/>
            <a:ext cx="12188952" cy="2280029"/>
          </a:xfrm>
          <a:prstGeom prst="rect">
            <a:avLst/>
          </a:prstGeom>
          <a:solidFill>
            <a:schemeClr val="accent6">
              <a:lumMod val="50000"/>
            </a:schemeClr>
          </a:solidFill>
          <a:ln/>
        </p:spPr>
      </p:sp>
      <p:sp>
        <p:nvSpPr>
          <p:cNvPr id="45" name="Text 1">
            <a:extLst>
              <a:ext uri="{FF2B5EF4-FFF2-40B4-BE49-F238E27FC236}">
                <a16:creationId xmlns:a16="http://schemas.microsoft.com/office/drawing/2014/main" id="{A23FB3F1-F9C2-7F86-3A5B-90911C452C62}"/>
              </a:ext>
            </a:extLst>
          </p:cNvPr>
          <p:cNvSpPr/>
          <p:nvPr/>
        </p:nvSpPr>
        <p:spPr>
          <a:xfrm>
            <a:off x="365760" y="3166437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067273-61C1-C5C4-386C-CB5D2D8A9332}"/>
              </a:ext>
            </a:extLst>
          </p:cNvPr>
          <p:cNvSpPr txBox="1"/>
          <p:nvPr/>
        </p:nvSpPr>
        <p:spPr>
          <a:xfrm>
            <a:off x="4230440" y="3069771"/>
            <a:ext cx="50484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APPROVE PROCESS</a:t>
            </a:r>
            <a:endParaRPr lang="th-TH" sz="4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7695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4DD48-FCCA-147B-A08E-10F4F6B0F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9547944-891B-5F03-A10B-4CD2FBD1515C}"/>
              </a:ext>
            </a:extLst>
          </p:cNvPr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45" name="Text 1">
            <a:extLst>
              <a:ext uri="{FF2B5EF4-FFF2-40B4-BE49-F238E27FC236}">
                <a16:creationId xmlns:a16="http://schemas.microsoft.com/office/drawing/2014/main" id="{8594C76B-D1FC-5C2F-187B-63389B9C9D58}"/>
              </a:ext>
            </a:extLst>
          </p:cNvPr>
          <p:cNvSpPr/>
          <p:nvPr/>
        </p:nvSpPr>
        <p:spPr>
          <a:xfrm>
            <a:off x="365760" y="0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APPROVE BY VP MER / PRESIDENT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4A1D20-9E6E-270B-B4A3-91B8C5D4C3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48" y="1002151"/>
            <a:ext cx="12192000" cy="5525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2754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4EB2B-954D-95FD-C081-FAEAC5AA5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F6A8911-93F4-9401-C820-153AF0BB73D5}"/>
              </a:ext>
            </a:extLst>
          </p:cNvPr>
          <p:cNvSpPr/>
          <p:nvPr/>
        </p:nvSpPr>
        <p:spPr>
          <a:xfrm>
            <a:off x="0" y="2288985"/>
            <a:ext cx="12188952" cy="2280029"/>
          </a:xfrm>
          <a:prstGeom prst="rect">
            <a:avLst/>
          </a:prstGeom>
          <a:solidFill>
            <a:schemeClr val="accent6">
              <a:lumMod val="50000"/>
            </a:schemeClr>
          </a:solidFill>
          <a:ln/>
        </p:spPr>
      </p:sp>
      <p:sp>
        <p:nvSpPr>
          <p:cNvPr id="45" name="Text 1">
            <a:extLst>
              <a:ext uri="{FF2B5EF4-FFF2-40B4-BE49-F238E27FC236}">
                <a16:creationId xmlns:a16="http://schemas.microsoft.com/office/drawing/2014/main" id="{F5C6D3DB-2E4B-FDF9-69F0-F6B33DB5EA4B}"/>
              </a:ext>
            </a:extLst>
          </p:cNvPr>
          <p:cNvSpPr/>
          <p:nvPr/>
        </p:nvSpPr>
        <p:spPr>
          <a:xfrm>
            <a:off x="365760" y="3166437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6A56B0-44DC-5C04-4576-8F74A2C2DEFC}"/>
              </a:ext>
            </a:extLst>
          </p:cNvPr>
          <p:cNvSpPr txBox="1"/>
          <p:nvPr/>
        </p:nvSpPr>
        <p:spPr>
          <a:xfrm>
            <a:off x="4230440" y="3069771"/>
            <a:ext cx="4911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LOGISTIC PROCESS</a:t>
            </a:r>
            <a:endParaRPr lang="th-TH" sz="4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60747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D9EEE0-A628-02BF-8B70-2C0B145A7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5ACBF33-035B-7ABB-4478-AB712A6FD649}"/>
              </a:ext>
            </a:extLst>
          </p:cNvPr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45" name="Text 1">
            <a:extLst>
              <a:ext uri="{FF2B5EF4-FFF2-40B4-BE49-F238E27FC236}">
                <a16:creationId xmlns:a16="http://schemas.microsoft.com/office/drawing/2014/main" id="{6AB30CA0-0072-C6A4-320D-A47E97F3925C}"/>
              </a:ext>
            </a:extLst>
          </p:cNvPr>
          <p:cNvSpPr/>
          <p:nvPr/>
        </p:nvSpPr>
        <p:spPr>
          <a:xfrm>
            <a:off x="365760" y="0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LOGISTICS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DCF015-0394-264F-7613-E61D86B82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83490"/>
            <a:ext cx="12192000" cy="5525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3508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02358E-7153-7DC9-8A43-A869E364C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02E0044-17FB-B6FC-FDDF-38ACF7760C27}"/>
              </a:ext>
            </a:extLst>
          </p:cNvPr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45" name="Text 1">
            <a:extLst>
              <a:ext uri="{FF2B5EF4-FFF2-40B4-BE49-F238E27FC236}">
                <a16:creationId xmlns:a16="http://schemas.microsoft.com/office/drawing/2014/main" id="{07532E97-9CFE-2ACC-A8E8-3378917E4E25}"/>
              </a:ext>
            </a:extLst>
          </p:cNvPr>
          <p:cNvSpPr/>
          <p:nvPr/>
        </p:nvSpPr>
        <p:spPr>
          <a:xfrm>
            <a:off x="365760" y="0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ATTACHMENT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F48380-3E83-8FB5-91EE-9912190B6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01190"/>
            <a:ext cx="12192000" cy="5135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9809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FA0B4-4359-CC33-0D3B-3A0D76FFA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983F8C3-0FC0-3AE1-6E08-97CDACA2BAE6}"/>
              </a:ext>
            </a:extLst>
          </p:cNvPr>
          <p:cNvSpPr/>
          <p:nvPr/>
        </p:nvSpPr>
        <p:spPr>
          <a:xfrm>
            <a:off x="0" y="2288985"/>
            <a:ext cx="12188952" cy="2280029"/>
          </a:xfrm>
          <a:prstGeom prst="rect">
            <a:avLst/>
          </a:prstGeom>
          <a:solidFill>
            <a:schemeClr val="accent6">
              <a:lumMod val="50000"/>
            </a:schemeClr>
          </a:solidFill>
          <a:ln/>
        </p:spPr>
      </p:sp>
      <p:sp>
        <p:nvSpPr>
          <p:cNvPr id="45" name="Text 1">
            <a:extLst>
              <a:ext uri="{FF2B5EF4-FFF2-40B4-BE49-F238E27FC236}">
                <a16:creationId xmlns:a16="http://schemas.microsoft.com/office/drawing/2014/main" id="{835A353D-F4C1-B6A4-70F7-4F385BD93589}"/>
              </a:ext>
            </a:extLst>
          </p:cNvPr>
          <p:cNvSpPr/>
          <p:nvPr/>
        </p:nvSpPr>
        <p:spPr>
          <a:xfrm>
            <a:off x="365760" y="3166437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C4D7E1-A80E-9B40-BCEB-5BED39832781}"/>
              </a:ext>
            </a:extLst>
          </p:cNvPr>
          <p:cNvSpPr txBox="1"/>
          <p:nvPr/>
        </p:nvSpPr>
        <p:spPr>
          <a:xfrm>
            <a:off x="4230440" y="3069771"/>
            <a:ext cx="42714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CLAIM PROCESS</a:t>
            </a:r>
            <a:endParaRPr lang="th-TH" sz="4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19473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160F61-64F5-3D59-C577-F5171CCF8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1E427F4-88F5-3857-09CF-F1D0A84FAE91}"/>
              </a:ext>
            </a:extLst>
          </p:cNvPr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45" name="Text 1">
            <a:extLst>
              <a:ext uri="{FF2B5EF4-FFF2-40B4-BE49-F238E27FC236}">
                <a16:creationId xmlns:a16="http://schemas.microsoft.com/office/drawing/2014/main" id="{7B93D0DD-1D56-B4B0-CBEF-F936FB868FED}"/>
              </a:ext>
            </a:extLst>
          </p:cNvPr>
          <p:cNvSpPr/>
          <p:nvPr/>
        </p:nvSpPr>
        <p:spPr>
          <a:xfrm>
            <a:off x="365760" y="0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CLAIM DEP.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7B4488-CECF-2097-D52F-C63588AFF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48" y="1183618"/>
            <a:ext cx="12192000" cy="540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759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1364</TotalTime>
  <Words>922</Words>
  <Application>Microsoft Office PowerPoint</Application>
  <PresentationFormat>Widescreen</PresentationFormat>
  <Paragraphs>234</Paragraphs>
  <Slides>21</Slides>
  <Notes>21</Notes>
  <HiddenSlides>7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Thanchanok Piyatananon</cp:lastModifiedBy>
  <cp:revision>10</cp:revision>
  <dcterms:created xsi:type="dcterms:W3CDTF">2026-06-18T08:12:42Z</dcterms:created>
  <dcterms:modified xsi:type="dcterms:W3CDTF">2026-06-19T06:58:09Z</dcterms:modified>
</cp:coreProperties>
</file>